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6583680" cy="1938528"/>
          </a:xfrm>
          <a:prstGeom prst="roundRect">
            <a:avLst>
              <a:gd name="adj" fmla="val 283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85800"/>
            <a:ext cx="6583680" cy="384048"/>
          </a:xfrm>
          <a:prstGeom prst="rect">
            <a:avLst/>
          </a:prstGeom>
          <a:solidFill>
            <a:srgbClr val="0F120B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832104"/>
            <a:ext cx="91440" cy="91440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74066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sequence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[001]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connecting to arc-testnet…  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147218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[002]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initializing circle gateway…  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180136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[003]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loading citation ledger…  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13055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[004]  </a:t>
            </a:r>
            <a:pPr indent="0" marL="0">
              <a:buNone/>
            </a:pPr>
            <a:r>
              <a:rPr lang="en-US" sz="105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ready.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944368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</a:t>
            </a:r>
            <a:pPr indent="0" marL="0">
              <a:buNone/>
            </a:pPr>
            <a:r>
              <a:rPr lang="en-US" sz="6200" b="1" dirty="0">
                <a:solidFill>
                  <a:srgbClr val="C6F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FLOW</a:t>
            </a:r>
            <a:pPr indent="0" marL="0">
              <a:buNone/>
            </a:pPr>
            <a:r>
              <a:rPr lang="en-US" sz="62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_AI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640080" y="4224528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research agent that pays its sources — in USDC, per citation, in real time.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scroll to begin ↓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reads everything.</a:t>
            </a:r>
            <a:pPr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earn 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6B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4800600" cy="1463040"/>
          </a:xfrm>
          <a:prstGeom prst="roundRect">
            <a:avLst>
              <a:gd name="adj" fmla="val 3125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546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articles indexed, summarized, re-served by AI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23560" y="3017520"/>
            <a:ext cx="4800600" cy="1463040"/>
          </a:xfrm>
          <a:prstGeom prst="roundRect">
            <a:avLst>
              <a:gd name="adj" fmla="val 3125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3154680"/>
            <a:ext cx="4434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806440" y="384048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to the author, per synthesis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7548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research agent has the same architecture: scrape, embed, answer. The person who actually wrote the source material is invisible to the transaction — there isn't one.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citation</a:t>
            </a:r>
            <a:pPr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C6F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pays its author.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8961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CiteFlowAI is a pay-per-prompt research agent. A researcher locks a budget, the agent grounds its answer in registered sources, and every source it actually cites gets paid — automatically, in USDC, the moment the answer is generated. No subscriptions. No ad revenue split. No scraping.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3154680" cy="1554480"/>
          </a:xfrm>
          <a:prstGeom prst="roundRect">
            <a:avLst>
              <a:gd name="adj" fmla="val 2941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09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the creator, per citation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977640" y="4572000"/>
            <a:ext cx="3154680" cy="1554480"/>
          </a:xfrm>
          <a:prstGeom prst="roundRect">
            <a:avLst>
              <a:gd name="adj" fmla="val 2941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4709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160520" y="5394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fee, compute + network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0" y="4572000"/>
            <a:ext cx="3154680" cy="1554480"/>
          </a:xfrm>
          <a:prstGeom prst="roundRect">
            <a:avLst>
              <a:gd name="adj" fmla="val 2941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4709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98080" y="53949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charged for sources never used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— RESEARCHERS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a question.</a:t>
            </a:r>
            <a:pPr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it get paid for.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a wallet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and a PIN — no seed phrase, no extension. Circle’s user-controlled wallets handle custody invisibly.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Ask, and set a budget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signature authorizes an upfront budget for the prompt — say, fifty cents.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reads and decides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registered source gets scored for relevance. Only what's actually cited gets paid.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838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Unspent budget comes back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Didn't need the whole budget? The difference refunds to the same wallet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 — CREATORS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once.</a:t>
            </a:r>
            <a:pPr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paid every time.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you own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control of a domain, X account, Medium, or Substack — required before anything can be registered under it.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your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the URL, set your own citation price. It's chunked, embedded, and made available to the agent.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cited, get paid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time the agent grounds an answer in your work, USDC settles to your wallet — no invoice, no delay.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83880" y="28346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31821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it live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36758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dashboard shows every citation, every payout, updating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EXECUTION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mockup. This is a real session.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058400" cy="2267712"/>
          </a:xfrm>
          <a:prstGeom prst="roundRect">
            <a:avLst>
              <a:gd name="adj" fmla="val 2419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48840"/>
            <a:ext cx="10058400" cy="384048"/>
          </a:xfrm>
          <a:prstGeom prst="rect">
            <a:avLst/>
          </a:prstGeom>
          <a:solidFill>
            <a:srgbClr val="0F120B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95144"/>
            <a:ext cx="91440" cy="91440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0370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terminal — session 4ff48147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[001]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"what does Vitalik's rollup post say about state root publishing?"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935224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[002]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authorized: $0.50 · evaluating 20 registered sources…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264408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[003]  </a:t>
            </a:r>
            <a:pPr indent="0" marL="0">
              <a:buNone/>
            </a:pPr>
            <a:r>
              <a:rPr lang="en-US" sz="105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 Incomplete Guide to Rollups — relevance 0.91 — accepted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[004]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 answer in accepted source, generating citation…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922776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[005]  </a:t>
            </a:r>
            <a:pPr indent="0" marL="0">
              <a:buNone/>
            </a:pPr>
            <a:r>
              <a:rPr lang="en-US" sz="105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settled $0.50 → creator wallet · batch de979faf-db16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690872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chunk-level embedding retrieval finds the exact passage — not just the intro — so the answer is grounded in what the source actually says.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RECEIPT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dollar, accounted for.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8686800" cy="2011680"/>
          </a:xfrm>
          <a:prstGeom prst="roundRect">
            <a:avLst>
              <a:gd name="adj" fmla="val 2273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488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 locked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0" y="214884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8503920" cy="0"/>
          </a:xfrm>
          <a:prstGeom prst="line">
            <a:avLst/>
          </a:prstGeom>
          <a:noFill/>
          <a:ln w="12700">
            <a:solidFill>
              <a:srgbClr val="2A2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6517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Citation — An Incomplete Guide to Rollups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2816" y="277063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A2412"/>
          </a:solidFill>
          <a:ln w="9525">
            <a:solidFill>
              <a:srgbClr val="C6FF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2816" y="27706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98080" y="26517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−$0.50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8503920" cy="0"/>
          </a:xfrm>
          <a:prstGeom prst="line">
            <a:avLst/>
          </a:prstGeom>
          <a:noFill/>
          <a:ln w="12700">
            <a:solidFill>
              <a:srgbClr val="2A2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1546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 fee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98080" y="31546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−$0.20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8503920" cy="0"/>
          </a:xfrm>
          <a:prstGeom prst="line">
            <a:avLst/>
          </a:prstGeom>
          <a:noFill/>
          <a:ln w="12700">
            <a:solidFill>
              <a:srgbClr val="2A2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5760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Unspent budget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020824" y="37764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1A2412"/>
          </a:solidFill>
          <a:ln w="9525">
            <a:solidFill>
              <a:srgbClr val="C6FF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37764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498080" y="36576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+$0.30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5262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Verified on-chain, not just in a database: the paying wallet’s balance moved by exactly $0.30 when a citation came in under budget.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ANTI-IMPOSTER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can register</a:t>
            </a:r>
            <a:pPr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work but you.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this, anyone could register anyone's article and collect the payments meant for the real author. CiteFlowAI closes that permanently — with a hard gate, not a warning label.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METHODS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1307592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41468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977640"/>
            <a:ext cx="941832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93976" y="3977640"/>
            <a:ext cx="690372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41468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11" name="Text 9"/>
          <p:cNvSpPr/>
          <p:nvPr/>
        </p:nvSpPr>
        <p:spPr>
          <a:xfrm>
            <a:off x="2386584" y="3977640"/>
            <a:ext cx="324612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30652" y="3977640"/>
            <a:ext cx="1307592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76956" y="41468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14" name="Text 12"/>
          <p:cNvSpPr/>
          <p:nvPr/>
        </p:nvSpPr>
        <p:spPr>
          <a:xfrm>
            <a:off x="3223260" y="3977640"/>
            <a:ext cx="941832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4548" y="3977640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30852" y="41468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17" name="Text 15"/>
          <p:cNvSpPr/>
          <p:nvPr/>
        </p:nvSpPr>
        <p:spPr>
          <a:xfrm>
            <a:off x="4677156" y="3977640"/>
            <a:ext cx="1188720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Substack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5332" y="3977640"/>
            <a:ext cx="1677924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31636" y="41468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20" name="Text 18"/>
          <p:cNvSpPr/>
          <p:nvPr/>
        </p:nvSpPr>
        <p:spPr>
          <a:xfrm>
            <a:off x="6377940" y="3977640"/>
            <a:ext cx="1312164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 House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9738360" cy="1463040"/>
          </a:xfrm>
          <a:prstGeom prst="roundRect">
            <a:avLst>
              <a:gd name="adj" fmla="val 3125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9372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ENFORCED WHERE IT COUNTS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9372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identity, one owner — enforced by a database constraint, not application logic. Verified directly: even a privileged, service-role write couldn't override an existing claim.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NEWEST VERIFIED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source platform</a:t>
            </a:r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same chain as the payment.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 House — the Arc builder community — just became a fifth verifiable source. A creator posts in the forum, and when the agent cites it, USDC settles on Arc itself.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337560"/>
            <a:ext cx="10058400" cy="1938528"/>
          </a:xfrm>
          <a:prstGeom prst="roundRect">
            <a:avLst>
              <a:gd name="adj" fmla="val 283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3337560"/>
            <a:ext cx="10058400" cy="384048"/>
          </a:xfrm>
          <a:prstGeom prst="rect">
            <a:avLst/>
          </a:prstGeom>
          <a:solidFill>
            <a:srgbClr val="0F120B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483864"/>
            <a:ext cx="91440" cy="91440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392424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 — arc house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[001]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 House exposes no public profiles or bios — the bio-based method used for Medium/Substack was unavailable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4123944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[002]  </a:t>
            </a:r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found in a published post — resolving true author from the page's own structured data, not the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453128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[003]  </a:t>
            </a:r>
            <a:pPr indent="0" marL="0">
              <a:buNone/>
            </a:pPr>
            <a:r>
              <a:rPr lang="en-US" sz="105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verified — author brva6j9yfg owns this identity, permanently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4782312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[004]  </a:t>
            </a:r>
            <a:pPr indent="0" marL="0">
              <a:buNone/>
            </a:pPr>
            <a:r>
              <a:rPr lang="en-US" sz="105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registered: "CiteFlowAI: where every citation pays its author" — $0.05 · extracted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504688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post verifies the whole account — every post that creator has written, or ever writes, becomes registerable from that single proof.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AGENT ECONOMY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Humans aren't the only</a:t>
            </a:r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anymore.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CiteFlowAI speaks x402 — an open payment protocol built into HTTP itself. Any autonomous agent can pay for research directly: no login, no API key, no human clicking a wallet popup.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8412480" cy="1463040"/>
          </a:xfrm>
          <a:prstGeom prst="roundRect">
            <a:avLst>
              <a:gd name="adj" fmla="val 3125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388620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an agent runs — that's the whole integration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 =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GatewayClient({ chain: 'arcTestnet', privateKey })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client.deposit('1.00')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data } =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client.pay(researchUrl + '?q=...')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PROVEN, NOT PROMISED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tested it with three different</a:t>
            </a:r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companies' agents.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1307592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7752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6" name="Text 4"/>
          <p:cNvSpPr/>
          <p:nvPr/>
        </p:nvSpPr>
        <p:spPr>
          <a:xfrm>
            <a:off x="932688" y="2606040"/>
            <a:ext cx="941832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93976" y="2606040"/>
            <a:ext cx="3035808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27752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9" name="Text 7"/>
          <p:cNvSpPr/>
          <p:nvPr/>
        </p:nvSpPr>
        <p:spPr>
          <a:xfrm>
            <a:off x="2386584" y="2606040"/>
            <a:ext cx="2670048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Antigravity (Google)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76088" y="2606040"/>
            <a:ext cx="2295144" cy="420624"/>
          </a:xfrm>
          <a:prstGeom prst="roundRect">
            <a:avLst>
              <a:gd name="adj" fmla="val 50000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22392" y="2775204"/>
            <a:ext cx="82296" cy="82296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12" name="Text 10"/>
          <p:cNvSpPr/>
          <p:nvPr/>
        </p:nvSpPr>
        <p:spPr>
          <a:xfrm>
            <a:off x="5568696" y="2606040"/>
            <a:ext cx="1929384" cy="4206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Codex (OpenAI)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tool, same protocol, three independent agent platforms — plus a completely bare terminal test, six lines of code in an empty folder, no CiteFlowAI project in sight. Every run settled a real payment and returned a real, cited answer.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8686800" cy="1280160"/>
          </a:xfrm>
          <a:prstGeom prst="roundRect">
            <a:avLst>
              <a:gd name="adj" fmla="val 4286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800600"/>
            <a:ext cx="8686800" cy="384048"/>
          </a:xfrm>
          <a:prstGeom prst="rect">
            <a:avLst/>
          </a:prstGeom>
          <a:solidFill>
            <a:srgbClr val="0F120B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946904"/>
            <a:ext cx="91440" cy="91440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8554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 confirmed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5257800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  fbbfb3a1-0efc-4ced-807e-c16134afe336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5586984"/>
            <a:ext cx="8138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 eip155:5042002 · arc testnet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on real rails,</a:t>
            </a:r>
            <a:pPr indent="0" marL="0">
              <a:lnSpc>
                <a:spcPct val="100000"/>
              </a:lnSpc>
              <a:buNone/>
            </a:pPr>
            <a:r>
              <a:rPr lang="en-US" sz="3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demo shortcut.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 &amp; FUNDS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Wallets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email-based, no seed phrase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Circle Gateway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2702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batched x402 settlement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4612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29718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auth, ledger, pgvector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38862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83280" y="42702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chunk-level retrieval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52160" y="29718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89320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synthesis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2160" y="38862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fallback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89320" y="42702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rate-limit waterfall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458200" y="2606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58200" y="29718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3063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595360" y="33558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researchers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458200" y="388620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x402 + MCP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95360" y="42702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3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agents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 Testnet · USDC · settled on-chain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infrastructure just became real.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3154680" cy="2011680"/>
          </a:xfrm>
          <a:prstGeom prst="roundRect">
            <a:avLst>
              <a:gd name="adj" fmla="val 2273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80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ARE BECOMING BUYERS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Autonomous systems increasingly need to purchase data and compute on their own, without a human in the loop.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2743200"/>
            <a:ext cx="3154680" cy="2011680"/>
          </a:xfrm>
          <a:prstGeom prst="roundRect">
            <a:avLst>
              <a:gd name="adj" fmla="val 2273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60520" y="2880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NANOPAYMENTS FINALLY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60520" y="324612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x402 and Circle Gateway make gasless, per-request payment practical at fractions of a cent.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2743200"/>
            <a:ext cx="3154680" cy="2011680"/>
          </a:xfrm>
          <a:prstGeom prst="roundRect">
            <a:avLst>
              <a:gd name="adj" fmla="val 2273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880360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ATTRIBUTION IS UNRESOLVED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324612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AI product answers with someone else's work. Almost none of them pay for it.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</a:t>
            </a:r>
            <a:pPr algn="l" indent="0" marL="0">
              <a:buNone/>
            </a:pPr>
            <a:r>
              <a:rPr lang="en-US" sz="1200" spc="200" kern="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about what's left.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Mainnet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472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 off Arc Testnet with real USDC and a production treasury.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5468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5468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Refund timing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34472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settlement is batched; tighten the guarantee that a refund never outruns settled funds.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Remote MCP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34472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HTTP transport so cloud-hosted agent platforms — not just local CLIs — can connect.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83880" y="2606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295351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verification rails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3880" y="3447288"/>
            <a:ext cx="2331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 House just shipped as the fifth. More platforms as creators ask for them.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D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6583680" cy="950976"/>
          </a:xfrm>
          <a:prstGeom prst="roundRect">
            <a:avLst>
              <a:gd name="adj" fmla="val 5769"/>
            </a:avLst>
          </a:prstGeom>
          <a:solidFill>
            <a:srgbClr val="12150E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1280160"/>
            <a:ext cx="6583680" cy="384048"/>
          </a:xfrm>
          <a:prstGeom prst="rect">
            <a:avLst/>
          </a:prstGeom>
          <a:solidFill>
            <a:srgbClr val="0F120B"/>
          </a:solidFill>
          <a:ln w="12700">
            <a:solidFill>
              <a:srgbClr val="2A2E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26464"/>
            <a:ext cx="91440" cy="91440"/>
          </a:xfrm>
          <a:prstGeom prst="ellipse">
            <a:avLst/>
          </a:prstGeom>
          <a:solidFill>
            <a:srgbClr val="C6FF4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35024"/>
            <a:ext cx="6126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5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citeflow_ai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D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every citation pays its author.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596896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D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CiteFlow</a:t>
            </a:r>
            <a:pPr indent="0" marL="0">
              <a:buNone/>
            </a:pPr>
            <a:r>
              <a:rPr lang="en-US" sz="4000" b="1" dirty="0">
                <a:solidFill>
                  <a:srgbClr val="C6FF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465576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5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research agent for humans and other agents alike — grounded answers, paid citations, no exceptions.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105656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citeflowai.xyz</a:t>
            </a:r>
            <a:pPr indent="0" marL="0">
              <a:buNone/>
            </a:pPr>
            <a:r>
              <a:rPr lang="en-US" sz="1300" dirty="0">
                <a:solidFill>
                  <a:srgbClr val="5C63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</a:t>
            </a:r>
            <a:pPr indent="0" marL="0">
              <a:buNone/>
            </a:pPr>
            <a:r>
              <a:rPr lang="en-US" sz="1300" u="sng" dirty="0">
                <a:solidFill>
                  <a:srgbClr val="C6FF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@CiteFlowAI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CiteFlowAI — Pitch Deck</dc:title>
  <dc:subject>PptxGenJS Presentation</dc:subject>
  <dc:creator>PptxGenJS</dc:creator>
  <cp:lastModifiedBy>PptxGenJS</cp:lastModifiedBy>
  <cp:revision>1</cp:revision>
  <dcterms:created xsi:type="dcterms:W3CDTF">2026-08-10T07:30:59Z</dcterms:created>
  <dcterms:modified xsi:type="dcterms:W3CDTF">2026-08-10T07:30:59Z</dcterms:modified>
</cp:coreProperties>
</file>